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A1563F-0B53-4AD3-A546-BB46379483E3}">
  <a:tblStyle styleId="{3FA1563F-0B53-4AD3-A546-BB46379483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energy. 'Cities are dying inside — and nobody measures it. We built the tool that does.' One line, then move. This split image says it all: grey concrete city vs a living green one.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Slow down here. Ask the three questions rhetorically. The judges should feel the gap before you name the framework. This is your problem statement — the single most important 30 seconds.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the pairing: Safir wrote the framework (rare — the author is on the team), Faizan built the AI. That combination is why the project is credible, not just an academic exercise or a generic hack.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where the dissertation enters — as foundation, not lecture. Name Safir as the author. Keep it to ~30 seconds: five pillars, a 0-100 scale, a real researcher. Then pivot hard to the gap.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most important slide. The gap IS your problem statement, and it's straight from the framework's own author. Land the last line hard: 'This is a memory problem.' — that's the entire justification for using Cognee.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transition into the AI half. Walk the pipeline left to right in one sentence. From here on, the tool is the star.</a:t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relatable human moment. A real user hits a wall — days of reading — and the tool answers in one line with a cited quote. Keep it light; the character carries it.</a:t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'Best Use of Cognee' foundation. Stress: not one of these is decoration. recall() literally computes the score; forget() has a real-world meaning (repealed policy).</a:t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Judges love seeing the actual mechanism. Walk the example: four indicators, add the points, divide by four, times 100 = 50. Then average five pillars for the total. Keep it concrete.</a:t>
            </a:r>
            <a:endParaRPr/>
          </a:p>
        </p:txBody>
      </p:sp>
      <p:sp>
        <p:nvSpPr>
          <p:cNvPr id="210" name="Google Shape;2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headline 'Best Use of Cognee' argument. The multi-hop question is the killer. Say it plainly: a chatbot reads one doc at a time; the graph joins them.</a:t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Geneva 70 (Life-Responsive) vs Delhi 30 (Emerging), a 40-point gap. But look pillar by pillar: Delhi leads nowhere outright yet holds real ecological continuity (62), while both cities tie at 25 on equity — proof the tool discriminates rather than favouring wealth. Same code, only the documents changed.</a:t>
            </a:r>
            <a:endParaRPr/>
          </a:p>
        </p:txBody>
      </p:sp>
      <p:sp>
        <p:nvSpPr>
          <p:cNvPr id="255" name="Google Shape;2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Turns your biggest apparent weakness — imperfect scores — into a technical-excellence and honesty win. Judges trust teams that show their work.</a:t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Compact. Don't read the table aloud — let it sit as proof while you say the impact line: this makes a real framework usable, for real users, on real global goals.</a:t>
            </a:r>
            <a:endParaRPr/>
          </a:p>
        </p:txBody>
      </p:sp>
      <p:sp>
        <p:nvSpPr>
          <p:cNvPr id="339" name="Google Shape;3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Calibration reads as maturity. State limits plainly, then pivot to the exciting future. The auto-gather + verified-source line shows you understand why you'd keep a human in the loop.</a:t>
            </a:r>
            <a:endParaRPr/>
          </a:p>
        </p:txBody>
      </p:sp>
      <p:sp>
        <p:nvSpPr>
          <p:cNvPr id="358" name="Google Shape;3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the story arc, then point them to the live app, repo, and video. The Netlify demo is the strongest CTA — a judge can use the real tool in one click. ADD the GitHub and video URLs before submitting.</a:t>
            </a:r>
            <a:endParaRPr/>
          </a:p>
        </p:txBody>
      </p:sp>
      <p:sp>
        <p:nvSpPr>
          <p:cNvPr id="373" name="Google Shape;3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30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city_split.png" id="16" name="Google Shape;16;p3"/>
          <p:cNvPicPr preferRelativeResize="0"/>
          <p:nvPr/>
        </p:nvPicPr>
        <p:blipFill rotWithShape="1">
          <a:blip r:embed="rId3">
            <a:alphaModFix amt="88000"/>
          </a:blip>
          <a:srcRect b="0" l="0" r="0" t="0"/>
          <a:stretch/>
        </p:blipFill>
        <p:spPr>
          <a:xfrm>
            <a:off x="0" y="3108960"/>
            <a:ext cx="12161520" cy="3749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ck/assets/monstera.png" id="17" name="Google Shape;17;p3"/>
          <p:cNvPicPr preferRelativeResize="0"/>
          <p:nvPr/>
        </p:nvPicPr>
        <p:blipFill rotWithShape="1">
          <a:blip r:embed="rId4">
            <a:alphaModFix amt="55000"/>
          </a:blip>
          <a:srcRect b="0" l="0" r="0" t="0"/>
          <a:stretch/>
        </p:blipFill>
        <p:spPr>
          <a:xfrm rot="-9000000">
            <a:off x="-227421" y="-640080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ck/assets/monstera.png" id="18" name="Google Shape;18;p3"/>
          <p:cNvPicPr preferRelativeResize="0"/>
          <p:nvPr/>
        </p:nvPicPr>
        <p:blipFill rotWithShape="1">
          <a:blip r:embed="rId4">
            <a:alphaModFix amt="55000"/>
          </a:blip>
          <a:srcRect b="0" l="0" r="0" t="0"/>
          <a:stretch/>
        </p:blipFill>
        <p:spPr>
          <a:xfrm rot="1800000">
            <a:off x="10058400" y="-54864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LivingCities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2100"/>
              <a:buFont typeface="Calibri"/>
              <a:buNone/>
            </a:pPr>
            <a:r>
              <a:rPr b="0" i="1" lang="en-US" sz="21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Giving a theory of living cities the memory to finally work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mascot_smile.png" id="21" name="Google Shape;2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00" y="3872970"/>
            <a:ext cx="1737360" cy="2523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3291840" y="5989320"/>
            <a:ext cx="5577840" cy="566928"/>
          </a:xfrm>
          <a:prstGeom prst="roundRect">
            <a:avLst>
              <a:gd fmla="val 50000" name="adj"/>
            </a:avLst>
          </a:prstGeom>
          <a:solidFill>
            <a:srgbClr val="1B5E3F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291840" y="5989320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7C957"/>
                </a:solidFill>
                <a:latin typeface="Arial"/>
                <a:ea typeface="Arial"/>
                <a:cs typeface="Arial"/>
                <a:sym typeface="Arial"/>
              </a:rPr>
              <a:t>remember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500" u="none" cap="none" strike="noStrike">
                <a:solidFill>
                  <a:srgbClr val="A7C95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500" u="none" cap="none" strike="noStrike">
                <a:solidFill>
                  <a:srgbClr val="A7C957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500" u="none" cap="none" strike="noStrike">
                <a:solidFill>
                  <a:srgbClr val="A7C957"/>
                </a:solidFill>
                <a:latin typeface="Arial"/>
                <a:ea typeface="Arial"/>
                <a:cs typeface="Arial"/>
                <a:sym typeface="Arial"/>
              </a:rPr>
              <a:t>forget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371600" y="6507515"/>
            <a:ext cx="941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FE4"/>
                </a:solidFill>
                <a:latin typeface="Arial"/>
                <a:ea typeface="Arial"/>
                <a:cs typeface="Arial"/>
                <a:sym typeface="Arial"/>
              </a:rPr>
              <a:t>WeMakeDevs × Cognee Hackathon 2026   ·   Track 2: Best Use of Cognee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30" name="Google Shape;30;p4"/>
          <p:cNvPicPr preferRelativeResize="0"/>
          <p:nvPr/>
        </p:nvPicPr>
        <p:blipFill rotWithShape="1">
          <a:blip r:embed="rId3">
            <a:alphaModFix amt="38000"/>
          </a:blip>
          <a:srcRect b="0" l="0" r="0" t="0"/>
          <a:stretch/>
        </p:blipFill>
        <p:spPr>
          <a:xfrm rot="1200000">
            <a:off x="10241280" y="-45720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Cities are graded on money and traffic.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" y="13258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Never on </a:t>
            </a:r>
            <a:r>
              <a:rPr b="1" i="1" lang="en-US" sz="30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life</a:t>
            </a:r>
            <a:r>
              <a:rPr b="1" i="0" lang="en-US" sz="30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2468880"/>
            <a:ext cx="3291840" cy="2468880"/>
          </a:xfrm>
          <a:prstGeom prst="roundRect">
            <a:avLst>
              <a:gd fmla="val 518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011680" y="2743200"/>
            <a:ext cx="731520" cy="731520"/>
          </a:xfrm>
          <a:prstGeom prst="ellipse">
            <a:avLst/>
          </a:prstGeom>
          <a:solidFill>
            <a:srgbClr val="DC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6272" y="29077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960120" y="365760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Can birds and insects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cross the city?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343400" y="2468880"/>
            <a:ext cx="3291840" cy="2468880"/>
          </a:xfrm>
          <a:prstGeom prst="roundRect">
            <a:avLst>
              <a:gd fmla="val 518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623560" y="2743200"/>
            <a:ext cx="731520" cy="731520"/>
          </a:xfrm>
          <a:prstGeom prst="ellipse">
            <a:avLst/>
          </a:prstGeom>
          <a:solidFill>
            <a:srgbClr val="DC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8152" y="29077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4572000" y="365760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Is the soil alive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beneath the concrete?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955280" y="2468880"/>
            <a:ext cx="3291840" cy="2468880"/>
          </a:xfrm>
          <a:prstGeom prst="roundRect">
            <a:avLst>
              <a:gd fmla="val 518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235440" y="2743200"/>
            <a:ext cx="731520" cy="731520"/>
          </a:xfrm>
          <a:prstGeom prst="ellipse">
            <a:avLst/>
          </a:prstGeom>
          <a:solidFill>
            <a:srgbClr val="DC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00032" y="29077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8183880" y="365760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Can everyone reach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real nature — not just the rich?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mascot_think.png" id="45" name="Google Shape;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58400" y="4297680"/>
            <a:ext cx="164592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731520" y="52120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These questions have never had a real scorecard — until now.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53" name="Google Shape;53;p5"/>
          <p:cNvPicPr preferRelativeResize="0"/>
          <p:nvPr/>
        </p:nvPicPr>
        <p:blipFill rotWithShape="1">
          <a:blip r:embed="rId3">
            <a:alphaModFix amt="38000"/>
          </a:blip>
          <a:srcRect b="0" l="0" r="0" t="0"/>
          <a:stretch/>
        </p:blipFill>
        <p:spPr>
          <a:xfrm rot="1200000">
            <a:off x="10241280" y="-45720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Team </a:t>
            </a:r>
            <a:r>
              <a:rPr b="1" i="0" lang="en-US" sz="32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noName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The two halves this project needed: the researcher who wrote the framework, and the engineer who gave it a memory.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2960" y="2286000"/>
            <a:ext cx="5029200" cy="3108960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52144" y="2523744"/>
            <a:ext cx="987552" cy="9875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afir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720" y="25603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2286000" y="254203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Safir Abbas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286000" y="298094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Architect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286000" y="3291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B.Arch, GGSIPU Delhi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234440" y="379476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Author of the LCUI framework, from his B.Arch thesis. The domain expertise and five pillars this tool operationalizes and the expert-in-the-loop who corrects its judgments.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309360" y="2286000"/>
            <a:ext cx="5029200" cy="3108960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638544" y="2523744"/>
            <a:ext cx="987552" cy="98755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faizan.png" id="65" name="Google Shape;6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5120" y="25603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7772400" y="254203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Faizan Khan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772400" y="298094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MSc Computer Science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772400" y="3291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University of Geneva (UNIGE)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720840" y="379476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Built the AI system: Cognee memory pipeline, the scoring engine, and the product. Turned a paper framework into a working tool.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mascot_smile.png"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8700" y="5052550"/>
            <a:ext cx="1071975" cy="15484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970520" y="5806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Domain expert + AI engineer — the pairing that makes this project uniquely defensible.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The foundation: </a:t>
            </a:r>
            <a:r>
              <a:rPr b="1" i="0" lang="en-US" sz="30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the LCUI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A published architecture dissertation that scores any city 0–100 on how well it supports life.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1520" y="1828800"/>
            <a:ext cx="2011680" cy="2286000"/>
          </a:xfrm>
          <a:prstGeom prst="roundRect">
            <a:avLst>
              <a:gd fmla="val 5455" name="adj"/>
            </a:avLst>
          </a:prstGeom>
          <a:solidFill>
            <a:srgbClr val="F4F1E8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508760" y="2029968"/>
            <a:ext cx="457200" cy="4572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508760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22960" y="2606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Ecological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Continuity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22960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Can nature move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across the city?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944368" y="1828800"/>
            <a:ext cx="2011680" cy="2286000"/>
          </a:xfrm>
          <a:prstGeom prst="roundRect">
            <a:avLst>
              <a:gd fmla="val 5455" name="adj"/>
            </a:avLst>
          </a:prstGeom>
          <a:solidFill>
            <a:srgbClr val="DCEFE4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721608" y="2029968"/>
            <a:ext cx="457200" cy="4572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721608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035808" y="2606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Multispecies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035808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Does it build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for animals too?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157216" y="1828800"/>
            <a:ext cx="2011680" cy="2286000"/>
          </a:xfrm>
          <a:prstGeom prst="roundRect">
            <a:avLst>
              <a:gd fmla="val 5455" name="adj"/>
            </a:avLst>
          </a:prstGeom>
          <a:solidFill>
            <a:srgbClr val="F4F1E8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934456" y="2029968"/>
            <a:ext cx="457200" cy="4572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934456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248656" y="2606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Regenerative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248656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Does it renew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like an ecosystem?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370064" y="1828800"/>
            <a:ext cx="2011680" cy="2286000"/>
          </a:xfrm>
          <a:prstGeom prst="roundRect">
            <a:avLst>
              <a:gd fmla="val 5455" name="adj"/>
            </a:avLst>
          </a:prstGeom>
          <a:solidFill>
            <a:srgbClr val="DCEFE4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147304" y="2029968"/>
            <a:ext cx="457200" cy="4572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147304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461504" y="2606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Human–Nature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Equity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461504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Can everyone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reach nature?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582912" y="1828800"/>
            <a:ext cx="2011680" cy="2286000"/>
          </a:xfrm>
          <a:prstGeom prst="roundRect">
            <a:avLst>
              <a:gd fmla="val 5455" name="adj"/>
            </a:avLst>
          </a:prstGeom>
          <a:solidFill>
            <a:srgbClr val="F4F1E8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0360152" y="2029968"/>
            <a:ext cx="457200" cy="4572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10360152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674352" y="260604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674352" y="33832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Is it enforced,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not just written?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31520" y="4617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B6B6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371600" y="4572000"/>
            <a:ext cx="1874520" cy="502920"/>
          </a:xfrm>
          <a:prstGeom prst="roundRect">
            <a:avLst>
              <a:gd fmla="val 18182" name="adj"/>
            </a:avLst>
          </a:prstGeom>
          <a:solidFill>
            <a:srgbClr val="B24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371600" y="457200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337560" y="4572000"/>
            <a:ext cx="1874520" cy="502920"/>
          </a:xfrm>
          <a:prstGeom prst="roundRect">
            <a:avLst>
              <a:gd fmla="val 18182" name="adj"/>
            </a:avLst>
          </a:prstGeom>
          <a:solidFill>
            <a:srgbClr val="8A5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337560" y="457200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303520" y="4572000"/>
            <a:ext cx="1874520" cy="502920"/>
          </a:xfrm>
          <a:prstGeom prst="roundRect">
            <a:avLst>
              <a:gd fmla="val 18182" name="adj"/>
            </a:avLst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303520" y="457200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269480" y="4572000"/>
            <a:ext cx="1874520" cy="502920"/>
          </a:xfrm>
          <a:prstGeom prst="roundRect">
            <a:avLst>
              <a:gd fmla="val 18182" name="adj"/>
            </a:avLst>
          </a:prstGeom>
          <a:solidFill>
            <a:srgbClr val="4C9A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269480" y="457200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Life-Responsive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235440" y="4572000"/>
            <a:ext cx="1874520" cy="502920"/>
          </a:xfrm>
          <a:prstGeom prst="roundRect">
            <a:avLst>
              <a:gd fmla="val 18182" name="adj"/>
            </a:avLst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9235440" y="457200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Ecologically Rooted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From Safir Abbas's B.Arch thesis (GGSIPU Delhi). A real, published framework — the credibility this project stands 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sprig.png" id="117" name="Google Shape;117;p6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1155680" y="50292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2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124" name="Google Shape;124;p7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 rot="9000000">
            <a:off x="9966960" y="475488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But the framework couldn't be used.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 rot="-720000">
            <a:off x="822960" y="2011680"/>
            <a:ext cx="914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 rot="480000">
            <a:off x="1737360" y="2743200"/>
            <a:ext cx="914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 rot="-360000">
            <a:off x="640080" y="3749040"/>
            <a:ext cx="914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 rot="840000">
            <a:off x="2194560" y="4023360"/>
            <a:ext cx="914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 rot="240000">
            <a:off x="1371600" y="1828800"/>
            <a:ext cx="914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 rot="-600000">
            <a:off x="2743200" y="3108960"/>
            <a:ext cx="9144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mascot_think.png"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4206240"/>
            <a:ext cx="155448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4754880" y="1920240"/>
            <a:ext cx="6583680" cy="2468880"/>
          </a:xfrm>
          <a:prstGeom prst="roundRect">
            <a:avLst>
              <a:gd fmla="val 5185" name="adj"/>
            </a:avLst>
          </a:prstGeom>
          <a:solidFill>
            <a:srgbClr val="1B5E3F"/>
          </a:solidFill>
          <a:ln cap="flat" cmpd="sng" w="1905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2148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5120640" y="269748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"The data needed to apply this framework is unavailable, fragmented, or not routinely monitored… the index risks remaining an ethical manifesto rather than a replicable protocol."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120640" y="39776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7C957"/>
                </a:solidFill>
                <a:latin typeface="Arial"/>
                <a:ea typeface="Arial"/>
                <a:cs typeface="Arial"/>
                <a:sym typeface="Arial"/>
              </a:rPr>
              <a:t>from the dissertation's own 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54880" y="466344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 is scattered across dozens of documents </a:t>
            </a:r>
            <a:r>
              <a:rPr b="1" i="0" lang="en-US" sz="18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no human can read and connect.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54880" y="566928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2200"/>
              <a:buFont typeface="Cambria"/>
              <a:buNone/>
            </a:pPr>
            <a:r>
              <a:rPr b="1" i="1" lang="en-US" sz="2200" u="none" cap="none" strike="noStrike">
                <a:solidFill>
                  <a:srgbClr val="C77D28"/>
                </a:solidFill>
                <a:latin typeface="Cambria"/>
                <a:ea typeface="Cambria"/>
                <a:cs typeface="Cambria"/>
                <a:sym typeface="Cambria"/>
              </a:rPr>
              <a:t>This is a memory problem.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ascot_smile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840" y="457200"/>
            <a:ext cx="164592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We gave the framework a </a:t>
            </a:r>
            <a:r>
              <a:rPr b="1" i="1" lang="en-US" sz="32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memory</a:t>
            </a:r>
            <a:r>
              <a:rPr b="1" i="0" lang="en-US" sz="32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31520" y="14173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LivingCities reads a city's documents into a knowledge graph, then scores it  with a real quote behind every point.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pipeline.png"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331720"/>
            <a:ext cx="1088136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731520" y="5532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1  remember()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31520" y="58064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Read the city's PDFs into a knowledge 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474720" y="5532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2  recall()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474720" y="58064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Ask each scoring question of that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217920" y="5532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3  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217920" y="58064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Grade the evidence: found / partial / not found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961120" y="5532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4  Scorecard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961120" y="58064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0–100, with a quote behind every 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EFE4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A day in the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31520" y="1371600"/>
            <a:ext cx="3383280" cy="4206240"/>
          </a:xfrm>
          <a:prstGeom prst="roundRect">
            <a:avLst>
              <a:gd fmla="val 378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worker.png"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1645920"/>
            <a:ext cx="237744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731520" y="4800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4A3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24A3A"/>
                </a:solidFill>
                <a:latin typeface="Calibri"/>
                <a:ea typeface="Calibri"/>
                <a:cs typeface="Calibri"/>
                <a:sym typeface="Calibri"/>
              </a:rPr>
              <a:t>Stuck.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14400" y="5012563"/>
            <a:ext cx="301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"Does Geneva even protect its ecological corridors? I'd have to read six documents…"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160520" y="30175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846320" y="1371600"/>
            <a:ext cx="3383280" cy="4206240"/>
          </a:xfrm>
          <a:prstGeom prst="roundRect">
            <a:avLst>
              <a:gd fmla="val 378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mascot_smile.png" id="170" name="Google Shape;1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1645920"/>
            <a:ext cx="219456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4846320" y="48006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Asks Living Cities.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029200" y="51206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The city's whole memory, asked in one 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275320" y="30175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961120" y="1371600"/>
            <a:ext cx="2743200" cy="4206240"/>
          </a:xfrm>
          <a:prstGeom prst="roundRect">
            <a:avLst>
              <a:gd fmla="val 4667" name="adj"/>
            </a:avLst>
          </a:prstGeom>
          <a:solidFill>
            <a:srgbClr val="1B5E3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0" y="1691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9144000" y="246888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Answered in seconds — with the real quote.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9144000" y="34747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"…corridors biologiques protégés…"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9144000" y="42976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FE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FE4"/>
                </a:solidFill>
                <a:latin typeface="Arial"/>
                <a:ea typeface="Arial"/>
                <a:cs typeface="Arial"/>
                <a:sym typeface="Arial"/>
              </a:rPr>
              <a:t>Source: Biodiversity Strategy 2030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Four memory functions. Everyone does real work.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731520" y="1371600"/>
            <a:ext cx="5120640" cy="2057400"/>
          </a:xfrm>
          <a:prstGeom prst="roundRect">
            <a:avLst>
              <a:gd fmla="val 5778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051560" y="1755648"/>
            <a:ext cx="914400" cy="9144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304" y="19933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/>
          <p:nvPr/>
        </p:nvSpPr>
        <p:spPr>
          <a:xfrm>
            <a:off x="2194560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1B5E3F"/>
                </a:solidFill>
                <a:latin typeface="Consolas"/>
                <a:ea typeface="Consolas"/>
                <a:cs typeface="Consolas"/>
                <a:sym typeface="Consolas"/>
              </a:rPr>
              <a:t>remember()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194560" y="22860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Reads a city's PDFs &amp; docs into a connected knowledge graph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217920" y="1371600"/>
            <a:ext cx="5120640" cy="2057400"/>
          </a:xfrm>
          <a:prstGeom prst="roundRect">
            <a:avLst>
              <a:gd fmla="val 5778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537960" y="1755648"/>
            <a:ext cx="914400" cy="914400"/>
          </a:xfrm>
          <a:prstGeom prst="ellipse">
            <a:avLst/>
          </a:prstGeom>
          <a:solidFill>
            <a:srgbClr val="4C9A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5704" y="19933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7680960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9A5D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4C9A5D"/>
                </a:solidFill>
                <a:latin typeface="Consolas"/>
                <a:ea typeface="Consolas"/>
                <a:cs typeface="Consolas"/>
                <a:sym typeface="Consolas"/>
              </a:rPr>
              <a:t>recall()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680960" y="22860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Answers all 20 scoring questions — the engine of the scorecard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31520" y="3703320"/>
            <a:ext cx="5120640" cy="2057400"/>
          </a:xfrm>
          <a:prstGeom prst="roundRect">
            <a:avLst>
              <a:gd fmla="val 5778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051560" y="4087368"/>
            <a:ext cx="914400" cy="914400"/>
          </a:xfrm>
          <a:prstGeom prst="ellipse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9304" y="43251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2194560" y="40690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C77D28"/>
                </a:solidFill>
                <a:latin typeface="Consolas"/>
                <a:ea typeface="Consolas"/>
                <a:cs typeface="Consolas"/>
                <a:sym typeface="Consolas"/>
              </a:rPr>
              <a:t>improve()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194560" y="461772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Learns permanently when the expert corrects a judgment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217920" y="3703320"/>
            <a:ext cx="5120640" cy="2057400"/>
          </a:xfrm>
          <a:prstGeom prst="roundRect">
            <a:avLst>
              <a:gd fmla="val 5778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6537960" y="4087368"/>
            <a:ext cx="914400" cy="914400"/>
          </a:xfrm>
          <a:prstGeom prst="ellipse">
            <a:avLst/>
          </a:prstGeom>
          <a:solidFill>
            <a:srgbClr val="8A54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5704" y="432511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7680960" y="40690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416"/>
              </a:buClr>
              <a:buSzPts val="2100"/>
              <a:buFont typeface="Consolas"/>
              <a:buNone/>
            </a:pPr>
            <a:r>
              <a:rPr b="1" i="0" lang="en-US" sz="2100" u="none" cap="none" strike="noStrike">
                <a:solidFill>
                  <a:srgbClr val="8A5416"/>
                </a:solidFill>
                <a:latin typeface="Consolas"/>
                <a:ea typeface="Consolas"/>
                <a:cs typeface="Consolas"/>
                <a:sym typeface="Consolas"/>
              </a:rPr>
              <a:t>forget()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680960" y="461772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Prunes outdated policies so the score stays truthful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212" name="Google Shape;212;p11"/>
          <p:cNvPicPr preferRelativeResize="0"/>
          <p:nvPr/>
        </p:nvPicPr>
        <p:blipFill rotWithShape="1">
          <a:blip r:embed="rId3">
            <a:alphaModFix amt="38000"/>
          </a:blip>
          <a:srcRect b="0" l="0" r="0" t="0"/>
          <a:stretch/>
        </p:blipFill>
        <p:spPr>
          <a:xfrm rot="9600000">
            <a:off x="10332720" y="512064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73152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How the score is built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22960" y="1417320"/>
            <a:ext cx="1920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992" y="1627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/>
          <p:nvPr/>
        </p:nvSpPr>
        <p:spPr>
          <a:xfrm>
            <a:off x="1600200" y="16002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9A5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C9A5D"/>
                </a:solidFill>
                <a:latin typeface="Calibri"/>
                <a:ea typeface="Calibri"/>
                <a:cs typeface="Calibri"/>
                <a:sym typeface="Calibri"/>
              </a:rPr>
              <a:t>Found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078992" y="21945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B61"/>
                </a:solidFill>
                <a:latin typeface="Arial"/>
                <a:ea typeface="Arial"/>
                <a:cs typeface="Arial"/>
                <a:sym typeface="Arial"/>
              </a:rPr>
              <a:t>1.0 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971800" y="1417320"/>
            <a:ext cx="1920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7832" y="1627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3749040" y="16002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7D28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227832" y="21945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B61"/>
                </a:solidFill>
                <a:latin typeface="Arial"/>
                <a:ea typeface="Arial"/>
                <a:cs typeface="Arial"/>
                <a:sym typeface="Arial"/>
              </a:rPr>
              <a:t>0.5 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120640" y="1417320"/>
            <a:ext cx="192024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76672" y="16276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5897880" y="16002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4A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24A3A"/>
                </a:solidFill>
                <a:latin typeface="Calibri"/>
                <a:ea typeface="Calibri"/>
                <a:cs typeface="Calibri"/>
                <a:sym typeface="Calibri"/>
              </a:rPr>
              <a:t>Not found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376672" y="21945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B6B61"/>
                </a:solidFill>
                <a:latin typeface="Arial"/>
                <a:ea typeface="Arial"/>
                <a:cs typeface="Arial"/>
                <a:sym typeface="Arial"/>
              </a:rPr>
              <a:t>0.0 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7315200" y="1417320"/>
            <a:ext cx="1920240" cy="1371600"/>
          </a:xfrm>
          <a:prstGeom prst="roundRect">
            <a:avLst>
              <a:gd fmla="val 8000" name="adj"/>
            </a:avLst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315200" y="1417320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4 indicators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Pillar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9509760" y="1417320"/>
            <a:ext cx="1920240" cy="1371600"/>
          </a:xfrm>
          <a:prstGeom prst="roundRect">
            <a:avLst>
              <a:gd fmla="val 8000" name="adj"/>
            </a:avLst>
          </a:prstGeom>
          <a:solidFill>
            <a:srgbClr val="0F3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9509760" y="1417320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5 pillars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31520" y="3108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A worked example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11"/>
          <p:cNvGraphicFramePr/>
          <p:nvPr/>
        </p:nvGraphicFramePr>
        <p:xfrm>
          <a:off x="73152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{3FA1563F-0B53-4AD3-A546-BB46379483E3}</a:tableStyleId>
              </a:tblPr>
              <a:tblGrid>
                <a:gridCol w="4023350"/>
                <a:gridCol w="1463050"/>
                <a:gridCol w="914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Multispecies indicator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3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Wildlife crossings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4A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B24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found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Nesting / shelter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41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8A54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Pollinator gardens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9A5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4C9A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At-risk / lighting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5416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8A541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11"/>
          <p:cNvSpPr/>
          <p:nvPr/>
        </p:nvSpPr>
        <p:spPr>
          <a:xfrm>
            <a:off x="7680960" y="3520440"/>
            <a:ext cx="3749040" cy="2331720"/>
          </a:xfrm>
          <a:prstGeom prst="roundRect">
            <a:avLst>
              <a:gd fmla="val 549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7680960" y="37033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5B6B61"/>
                </a:solidFill>
                <a:latin typeface="Consolas"/>
                <a:ea typeface="Consolas"/>
                <a:cs typeface="Consolas"/>
                <a:sym typeface="Consolas"/>
              </a:rPr>
              <a:t>2.0 ÷ 4 ×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680960" y="411480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6200"/>
              <a:buFont typeface="Cambria"/>
              <a:buNone/>
            </a:pPr>
            <a:r>
              <a:rPr b="1" i="0" lang="en-US" sz="62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680960" y="51663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Multispecies pillar score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Every point traces back to a real quote from a real document.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Why a </a:t>
            </a:r>
            <a:r>
              <a:rPr b="1" i="0" lang="en-US" sz="28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graph</a:t>
            </a: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, not a chatbot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graph.png" id="244" name="Google Shape;2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091527"/>
            <a:ext cx="5740975" cy="4571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/>
          <p:nvPr/>
        </p:nvSpPr>
        <p:spPr>
          <a:xfrm>
            <a:off x="731520" y="137160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Some questions can't be answered from one document.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731520" y="2148840"/>
            <a:ext cx="5852160" cy="1051560"/>
          </a:xfrm>
          <a:prstGeom prst="roundRect">
            <a:avLst>
              <a:gd fmla="val 10435" name="adj"/>
            </a:avLst>
          </a:prstGeom>
          <a:solidFill>
            <a:srgbClr val="DC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914400" y="228600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"Is green space fairly distributed between rich and poor areas?"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731520" y="342900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Needs the parks map </a:t>
            </a:r>
            <a:r>
              <a:rPr b="1" i="0" lang="en-US" sz="1550" u="none" cap="none" strike="noStrike">
                <a:solidFill>
                  <a:srgbClr val="C77D2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15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 demographics </a:t>
            </a:r>
            <a:r>
              <a:rPr b="1" i="0" lang="en-US" sz="1550" u="none" cap="none" strike="noStrike">
                <a:solidFill>
                  <a:srgbClr val="C77D2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15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 transit — living in </a:t>
            </a:r>
            <a:r>
              <a:rPr b="1" i="0" lang="en-US" sz="15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different documents.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731520" y="4206240"/>
            <a:ext cx="5852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A chatbot reads one document at a time and misses it.</a:t>
            </a:r>
            <a:br>
              <a:rPr b="0" i="0" lang="en-US" sz="15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Cognee connects the facts across documents — so recall() can join them.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731523" y="5852150"/>
            <a:ext cx="590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This is the reason the project needs Cognee's hybrid graph-vector memory.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One framework. </a:t>
            </a:r>
            <a:r>
              <a:rPr b="1" i="0" lang="en-US" sz="27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Any city.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Same code, same rubric — only the documents change. A comparison nobody had before.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94360" y="14630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Geneva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94360" y="178308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1B5E3F"/>
                </a:solidFill>
                <a:latin typeface="Cambria"/>
                <a:ea typeface="Cambria"/>
                <a:cs typeface="Cambria"/>
                <a:sym typeface="Cambria"/>
              </a:rPr>
              <a:t>70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02920" y="27249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Life-Responsive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2148840" y="14630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Delhi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2148840" y="178308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C77D28"/>
                </a:solidFill>
                <a:latin typeface="Cambria"/>
                <a:ea typeface="Cambria"/>
                <a:cs typeface="Cambria"/>
                <a:sym typeface="Cambria"/>
              </a:rPr>
              <a:t>30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2057400" y="27249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77D28"/>
                </a:solidFill>
                <a:latin typeface="Calibri"/>
                <a:ea typeface="Calibri"/>
                <a:cs typeface="Calibri"/>
                <a:sym typeface="Calibri"/>
              </a:rPr>
              <a:t>Emerging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94360" y="3063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out of 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492240" y="128016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903720" y="128016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77D2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160520" y="15544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Ecological Continuity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160520" y="1828800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4160520" y="1828800"/>
            <a:ext cx="2286000" cy="137160"/>
          </a:xfrm>
          <a:prstGeom prst="rect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492240" y="17556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160520" y="2002536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4160520" y="2002536"/>
            <a:ext cx="1417320" cy="137160"/>
          </a:xfrm>
          <a:prstGeom prst="rect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6903720" y="192938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77D28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160520" y="22860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Multispecies Infra.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160520" y="2560320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160520" y="2560320"/>
            <a:ext cx="1714500" cy="137160"/>
          </a:xfrm>
          <a:prstGeom prst="rect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6492240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160520" y="2734056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160520" y="2734056"/>
            <a:ext cx="18288" cy="137160"/>
          </a:xfrm>
          <a:prstGeom prst="rect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6903720" y="266090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77D28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160520" y="30175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Regenerative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160520" y="3291840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4160520" y="3291840"/>
            <a:ext cx="1714500" cy="137160"/>
          </a:xfrm>
          <a:prstGeom prst="rect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492240" y="32186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160520" y="3465576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4160520" y="3465576"/>
            <a:ext cx="274320" cy="137160"/>
          </a:xfrm>
          <a:prstGeom prst="rect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903720" y="339242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77D2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160520" y="3749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Human–Nature Equity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160520" y="4023360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4160520" y="4023360"/>
            <a:ext cx="571500" cy="137160"/>
          </a:xfrm>
          <a:prstGeom prst="rect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492240" y="3950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160520" y="4197096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160520" y="4197096"/>
            <a:ext cx="571500" cy="137160"/>
          </a:xfrm>
          <a:prstGeom prst="rect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903720" y="4123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77D2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160520" y="44805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160520" y="4754880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4160520" y="4754880"/>
            <a:ext cx="1714500" cy="137160"/>
          </a:xfrm>
          <a:prstGeom prst="rect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492240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B5E3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160520" y="4928616"/>
            <a:ext cx="2286000" cy="137160"/>
          </a:xfrm>
          <a:prstGeom prst="rect">
            <a:avLst/>
          </a:prstGeom>
          <a:solidFill>
            <a:srgbClr val="E8E4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4160520" y="4928616"/>
            <a:ext cx="1143000" cy="137160"/>
          </a:xfrm>
          <a:prstGeom prst="rect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903720" y="485546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D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77D28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7543800" y="1417320"/>
            <a:ext cx="4160520" cy="2331720"/>
          </a:xfrm>
          <a:prstGeom prst="roundRect">
            <a:avLst>
              <a:gd fmla="val 3922" name="adj"/>
            </a:avLst>
          </a:prstGeom>
          <a:solidFill>
            <a:srgbClr val="F7F6F1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hot_scorecard.png" id="304" name="Google Shape;3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1536192"/>
            <a:ext cx="3886200" cy="186537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3"/>
          <p:cNvSpPr/>
          <p:nvPr/>
        </p:nvSpPr>
        <p:spPr>
          <a:xfrm>
            <a:off x="7543800" y="37673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Live from the tool — try it: </a:t>
            </a:r>
            <a:r>
              <a:rPr b="1" i="1" lang="en-US" sz="100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livingcities-app.netlify.app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94360" y="3474720"/>
            <a:ext cx="3291840" cy="2514600"/>
          </a:xfrm>
          <a:prstGeom prst="roundRect">
            <a:avLst>
              <a:gd fmla="val 4364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777240" y="36118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5E3F"/>
                </a:solidFill>
                <a:latin typeface="Calibri"/>
                <a:ea typeface="Calibri"/>
                <a:cs typeface="Calibri"/>
                <a:sym typeface="Calibri"/>
              </a:rPr>
              <a:t>The surprise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777240" y="397764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Both cities tie at </a:t>
            </a:r>
            <a:r>
              <a:rPr b="1" i="0" lang="en-US" sz="11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115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 on equity — even wealthy Geneva fails to give everyone fair access to nature.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777240" y="498348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Delhi's </a:t>
            </a:r>
            <a:r>
              <a:rPr b="1" i="0" lang="en-US" sz="1000" u="none" cap="none" strike="noStrike">
                <a:solidFill>
                  <a:srgbClr val="C77D2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0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 on Multispecies means no evidence in its official documents for those four indicators — not that nothing exists.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160520" y="58521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Not "rich city wins everything" — a discriminating, evidence-backed picture. Same framework, any city.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We don't blindly trust the AI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Careful testing caught real errors. We fixed them properly — and turned the review habit into a feature.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31520" y="1920240"/>
            <a:ext cx="3291840" cy="2743200"/>
          </a:xfrm>
          <a:prstGeom prst="roundRect">
            <a:avLst>
              <a:gd fmla="val 4333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1920240" y="2194560"/>
            <a:ext cx="914400" cy="914400"/>
          </a:xfrm>
          <a:prstGeom prst="ellipse">
            <a:avLst/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840" y="2423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4"/>
          <p:cNvSpPr/>
          <p:nvPr/>
        </p:nvSpPr>
        <p:spPr>
          <a:xfrm>
            <a:off x="914400" y="32461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Verified quotes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005840" y="37033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Every evidence quote must appear word-for-word in the source — auto-checked, or flagged.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343400" y="1920240"/>
            <a:ext cx="3291840" cy="2743200"/>
          </a:xfrm>
          <a:prstGeom prst="roundRect">
            <a:avLst>
              <a:gd fmla="val 4333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5532120" y="2194560"/>
            <a:ext cx="914400" cy="914400"/>
          </a:xfrm>
          <a:prstGeom prst="ellipse">
            <a:avLst/>
          </a:prstGeom>
          <a:solidFill>
            <a:srgbClr val="C77D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2423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4"/>
          <p:cNvSpPr/>
          <p:nvPr/>
        </p:nvSpPr>
        <p:spPr>
          <a:xfrm>
            <a:off x="4526280" y="32461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Strict rubric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617720" y="37033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Judging tightened to grade against each criterion, not by feel.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955280" y="1920240"/>
            <a:ext cx="3291840" cy="2743200"/>
          </a:xfrm>
          <a:prstGeom prst="roundRect">
            <a:avLst>
              <a:gd fmla="val 4333" name="adj"/>
            </a:avLst>
          </a:prstGeom>
          <a:solidFill>
            <a:srgbClr val="F4F1E8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9144000" y="2194560"/>
            <a:ext cx="914400" cy="914400"/>
          </a:xfrm>
          <a:prstGeom prst="ellipse">
            <a:avLst/>
          </a:prstGeom>
          <a:solidFill>
            <a:srgbClr val="4C9A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2600" y="2423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4"/>
          <p:cNvSpPr/>
          <p:nvPr/>
        </p:nvSpPr>
        <p:spPr>
          <a:xfrm>
            <a:off x="8138160" y="32461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Real ingestion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8229600" y="37033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Caught the memory storing paths, not content — fixed to read true text.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3D28"/>
                </a:solidFill>
                <a:latin typeface="Calibri"/>
                <a:ea typeface="Calibri"/>
                <a:cs typeface="Calibri"/>
                <a:sym typeface="Calibri"/>
              </a:rPr>
              <a:t>3 scoring errors caught across 40 indicator judgments — we fixed the pipeline, not the numbers. The same expert-review loop is the improve() feature we offer every user.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28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341" name="Google Shape;341;p15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 rot="-9600000">
            <a:off x="-548640" y="4846320"/>
            <a:ext cx="25603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/>
          <p:nvPr/>
        </p:nvSpPr>
        <p:spPr>
          <a:xfrm>
            <a:off x="73152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Impact &amp; fit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Who uses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914400" y="169164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Urban planners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Municipalities &amp; NGOs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Researchers &amp; journalists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Aligned with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914400" y="3611880"/>
            <a:ext cx="1280160" cy="640080"/>
          </a:xfrm>
          <a:prstGeom prst="roundRect">
            <a:avLst>
              <a:gd fmla="val 14286" name="adj"/>
            </a:avLst>
          </a:prstGeom>
          <a:solidFill>
            <a:srgbClr val="4C9A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914400" y="36118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SDG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2331720" y="3611880"/>
            <a:ext cx="1280160" cy="640080"/>
          </a:xfrm>
          <a:prstGeom prst="roundRect">
            <a:avLst>
              <a:gd fmla="val 14286" name="adj"/>
            </a:avLst>
          </a:prstGeom>
          <a:solidFill>
            <a:srgbClr val="4C9A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2331720" y="36118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SDG 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3749040" y="3611880"/>
            <a:ext cx="1280160" cy="640080"/>
          </a:xfrm>
          <a:prstGeom prst="roundRect">
            <a:avLst>
              <a:gd fmla="val 14286" name="adj"/>
            </a:avLst>
          </a:prstGeom>
          <a:solidFill>
            <a:srgbClr val="4C9A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3749040" y="361188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SDG 15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FE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DCEFE4"/>
                </a:solidFill>
                <a:latin typeface="Calibri"/>
                <a:ea typeface="Calibri"/>
                <a:cs typeface="Calibri"/>
                <a:sym typeface="Calibri"/>
              </a:rPr>
              <a:t>Cities · Climate · Life on land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15"/>
          <p:cNvGraphicFramePr/>
          <p:nvPr/>
        </p:nvGraphicFramePr>
        <p:xfrm>
          <a:off x="566928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{3FA1563F-0B53-4AD3-A546-BB46379483E3}</a:tableStyleId>
              </a:tblPr>
              <a:tblGrid>
                <a:gridCol w="2286000"/>
                <a:gridCol w="34747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we win it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5E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Makes a published framework usable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Creativity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 for a city-as-ecosystem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 quotes, clean design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use of Cognee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4 ops load-bearing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UX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page, live, evidence-backed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B2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C2B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Told by the framework's author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5A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1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360" name="Google Shape;360;p16"/>
          <p:cNvPicPr preferRelativeResize="0"/>
          <p:nvPr/>
        </p:nvPicPr>
        <p:blipFill rotWithShape="1">
          <a:blip r:embed="rId3">
            <a:alphaModFix amt="38000"/>
          </a:blip>
          <a:srcRect b="0" l="0" r="0" t="0"/>
          <a:stretch/>
        </p:blipFill>
        <p:spPr>
          <a:xfrm rot="1200000">
            <a:off x="10241280" y="-45720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6"/>
          <p:cNvSpPr/>
          <p:nvPr/>
        </p:nvSpPr>
        <p:spPr>
          <a:xfrm>
            <a:off x="73152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C2B22"/>
                </a:solidFill>
                <a:latin typeface="Cambria"/>
                <a:ea typeface="Cambria"/>
                <a:cs typeface="Cambria"/>
                <a:sym typeface="Cambria"/>
              </a:rPr>
              <a:t>Honest about the edges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731520" y="1463040"/>
            <a:ext cx="5212080" cy="4023360"/>
          </a:xfrm>
          <a:prstGeom prst="roundRect">
            <a:avLst>
              <a:gd fmla="val 295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1005840" y="169164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41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A5416"/>
                </a:solidFill>
                <a:latin typeface="Calibri"/>
                <a:ea typeface="Calibri"/>
                <a:cs typeface="Calibri"/>
                <a:sym typeface="Calibri"/>
              </a:rPr>
              <a:t>Today's limits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051560" y="2286000"/>
            <a:ext cx="45720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Preliminary guidance, not a scientific certification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Can only credit what the documents actually say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C2B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C2B22"/>
                </a:solidFill>
                <a:latin typeface="Calibri"/>
                <a:ea typeface="Calibri"/>
                <a:cs typeface="Calibri"/>
                <a:sym typeface="Calibri"/>
              </a:rPr>
              <a:t>improve() uses a fallback path on this cloud tenant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6309360" y="1463040"/>
            <a:ext cx="5029200" cy="4023360"/>
          </a:xfrm>
          <a:prstGeom prst="roundRect">
            <a:avLst>
              <a:gd fmla="val 2955" name="adj"/>
            </a:avLst>
          </a:prstGeom>
          <a:solidFill>
            <a:srgbClr val="1B5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629400" y="2286000"/>
            <a:ext cx="44805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Auto-gather a city's official documents (human-verified)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a city's score over the years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public 'living dashboard' the dissertation called for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sprig.png" id="368" name="Google Shape;368;p16"/>
          <p:cNvPicPr preferRelativeResize="0"/>
          <p:nvPr/>
        </p:nvPicPr>
        <p:blipFill rotWithShape="1">
          <a:blip r:embed="rId4">
            <a:alphaModFix amt="90000"/>
          </a:blip>
          <a:srcRect b="0" l="0" r="0" t="0"/>
          <a:stretch/>
        </p:blipFill>
        <p:spPr>
          <a:xfrm>
            <a:off x="5532120" y="45720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28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monstera.png" id="375" name="Google Shape;375;p17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 rot="-9600000">
            <a:off x="-731520" y="-731520"/>
            <a:ext cx="256032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deck/assets/monstera.png" id="376" name="Google Shape;376;p17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 rot="1800000">
            <a:off x="10149840" y="4846320"/>
            <a:ext cx="25603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/>
          <p:nvPr/>
        </p:nvSpPr>
        <p:spPr>
          <a:xfrm>
            <a:off x="914400" y="10515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A7C957"/>
                </a:solidFill>
                <a:latin typeface="Cambria"/>
                <a:ea typeface="Cambria"/>
                <a:cs typeface="Cambria"/>
                <a:sym typeface="Cambria"/>
              </a:rPr>
              <a:t>A framework its author couldn't use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914400" y="16916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is now a tool that remembers.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A7C957"/>
                </a:solidFill>
                <a:latin typeface="Cambria"/>
                <a:ea typeface="Cambria"/>
                <a:cs typeface="Cambria"/>
                <a:sym typeface="Cambria"/>
              </a:rPr>
              <a:t>LivingCities</a:t>
            </a:r>
            <a:r>
              <a:rPr b="0" i="1" lang="en-US" sz="1400" u="none" cap="none" strike="noStrike">
                <a:solidFill>
                  <a:srgbClr val="DCEFE4"/>
                </a:solidFill>
                <a:latin typeface="Cambria"/>
                <a:ea typeface="Cambria"/>
                <a:cs typeface="Cambria"/>
                <a:sym typeface="Cambria"/>
              </a:rPr>
              <a:t>   reads a city's memory · scores its life · learns from experts · stays honest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914400" y="3520440"/>
            <a:ext cx="6766560" cy="2514600"/>
          </a:xfrm>
          <a:prstGeom prst="roundRect">
            <a:avLst>
              <a:gd fmla="val 5091" name="adj"/>
            </a:avLst>
          </a:prstGeom>
          <a:solidFill>
            <a:srgbClr val="1B5E3F"/>
          </a:solidFill>
          <a:ln cap="flat" cmpd="sng" w="12700">
            <a:solidFill>
              <a:srgbClr val="7FB0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1188720" y="367588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9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7C957"/>
                </a:solidFill>
                <a:latin typeface="Calibri"/>
                <a:ea typeface="Calibri"/>
                <a:cs typeface="Calibri"/>
                <a:sym typeface="Calibri"/>
              </a:rPr>
              <a:t>Try it &amp; explore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188720" y="4114800"/>
            <a:ext cx="365760" cy="365760"/>
          </a:xfrm>
          <a:prstGeom prst="ellipse">
            <a:avLst/>
          </a:prstGeom>
          <a:solidFill>
            <a:srgbClr val="7FB0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016" y="41970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7"/>
          <p:cNvSpPr/>
          <p:nvPr/>
        </p:nvSpPr>
        <p:spPr>
          <a:xfrm>
            <a:off x="1691640" y="4096512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3291840" y="4096512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FE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FE4"/>
                </a:solidFill>
                <a:latin typeface="Consolas"/>
                <a:ea typeface="Consolas"/>
                <a:cs typeface="Consolas"/>
                <a:sym typeface="Consolas"/>
              </a:rPr>
              <a:t>livingcities-app.netlify.app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1188720" y="4681728"/>
            <a:ext cx="365760" cy="365760"/>
          </a:xfrm>
          <a:prstGeom prst="ellipse">
            <a:avLst/>
          </a:prstGeom>
          <a:solidFill>
            <a:srgbClr val="7FB0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016" y="47640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7"/>
          <p:cNvSpPr/>
          <p:nvPr/>
        </p:nvSpPr>
        <p:spPr>
          <a:xfrm>
            <a:off x="1691640" y="4663440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repo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3291840" y="4663440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FE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FE4"/>
                </a:solidFill>
                <a:latin typeface="Consolas"/>
                <a:ea typeface="Consolas"/>
                <a:cs typeface="Consolas"/>
                <a:sym typeface="Consolas"/>
              </a:rPr>
              <a:t>github.com/&lt;your-repo&gt;            (add link)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1188720" y="5248656"/>
            <a:ext cx="365760" cy="365760"/>
          </a:xfrm>
          <a:prstGeom prst="ellipse">
            <a:avLst/>
          </a:prstGeom>
          <a:solidFill>
            <a:srgbClr val="7FB0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1016" y="53309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7"/>
          <p:cNvSpPr/>
          <p:nvPr/>
        </p:nvSpPr>
        <p:spPr>
          <a:xfrm>
            <a:off x="1691640" y="5230368"/>
            <a:ext cx="1645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video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3291840" y="5230368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FE4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EFE4"/>
                </a:solidFill>
                <a:latin typeface="Consolas"/>
                <a:ea typeface="Consolas"/>
                <a:cs typeface="Consolas"/>
                <a:sym typeface="Consolas"/>
              </a:rPr>
              <a:t>&lt;paste video link&gt;            (add link)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7955280" y="3520440"/>
            <a:ext cx="2514600" cy="2514600"/>
          </a:xfrm>
          <a:prstGeom prst="roundRect">
            <a:avLst>
              <a:gd fmla="val 509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F3D28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qr.png" id="395" name="Google Shape;39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83880" y="3639312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7"/>
          <p:cNvSpPr/>
          <p:nvPr/>
        </p:nvSpPr>
        <p:spPr>
          <a:xfrm>
            <a:off x="7955280" y="568756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61"/>
                </a:solidFill>
                <a:latin typeface="Calibri"/>
                <a:ea typeface="Calibri"/>
                <a:cs typeface="Calibri"/>
                <a:sym typeface="Calibri"/>
              </a:rPr>
              <a:t>Scan for live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06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FB069"/>
                </a:solidFill>
                <a:latin typeface="Arial"/>
                <a:ea typeface="Arial"/>
                <a:cs typeface="Arial"/>
                <a:sym typeface="Arial"/>
              </a:rPr>
              <a:t>Best Use of Cognee Cloud  ·  WeMakeDevs 2026  ·  Team noName  ·  Built with AI assistance (disclosed)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